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Buenos días. Somos el grupo del NRC 8485 y vamos a presentar el diseño de infraestructura de red para un edificio corporativo de cinco pisos y 400 usuarios.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Repartimos la exposición en cinco bloques, uno por integrante, para cubrir todo el caso en quince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enunciado entrega muy pocos datos cerrados: pisos y usuarios. Todo lo demás lo tuvimos que determinar con criterios técnicos, y eso es justamente el trabajo.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 la lectura del plano y del enunciado derivamos seis requerimientos. Todo el diseño posterior responde a estos seis puntos.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cifra clave es 192 salidas por piso. No es arbitraria: sale del mínimo normativo de dos salidas por puesto, más los dispositivos del edificio, más una reserva, y cierra justo en cuatro patch panels de 48.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Comparamos las cuatro alternativas. Descartamos Cat 5e y Cat 6 porque no garantizan 10 gigabit en toda la planta. El cableado es lo más caro de rehacer, así que privilegiamos vida útil.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es el punto que más nos importa mostrar: las normas no quedaron en el marco teórico. Cada una determinó un número del diseño.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Núcleo colapsado en la sala de equipos del piso 1 y capa de acceso en cada piso. Cada piso llega al núcleo por dos enlaces de 10 gigabit en fibra, uno a cada switch de core.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plano es idéntico en los cinco pisos. Lo importante es la ubicación del cuarto de telecomunicaciones: al centro, para que ningún enlace supere los 90 metros.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Dimensionamos por capacidad y no solo por cobertura. En oficinas densas, celdas grandes con muchos clientes compitiendo rinden peor que celdas chicas con menor potencia.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TR se conecta directamente a la sala de equipos, sin encadenar pisos: así la falla de un piso intermedio no deja sin servicio a los de arriba. El rack deja 16U libres, un 38 por ciento.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Segmentamos por piso para acotar los dominios de difusión, y transversalmente por tipo de servicio. Invitados e IoT nunca ven la red interna.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inversión total llega a 207 millones de pesos, unos 224 mil dólares. La electrónica de red es el 34 por ciento y el cableado horizontal el 22.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Estas son las tres decisiones donde había una alternativa más barata. En dos la descartamos y en una la tomamos, y en los tres casos por la misma lógica: lo caro de rehacer se sobredimensiona, lo que se renueva rápido se ajusta a la demanda.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Todo el diseño lleva reserva incorporada. La idea es que el edificio pueda crecer sin volver a intervenir cielos ni ductos.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Cerramos con los cuatro criterios que pedía el caso: rendimiento, escalabilidad, seguridad y costo. Y con la idea que nos parece más importante: las normas mandaron sobre el diseño.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Quedamos disponibles para las preguntas del profesor.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7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737360"/>
            <a:ext cx="5852160" cy="585216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0" y="3291840"/>
            <a:ext cx="3840480" cy="3840480"/>
          </a:xfrm>
          <a:prstGeom prst="ellipse">
            <a:avLst/>
          </a:prstGeom>
          <a:solidFill>
            <a:srgbClr val="17325C"/>
          </a:solidFill>
          <a:ln w="12700">
            <a:solidFill>
              <a:srgbClr val="17325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417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FB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1 · INFRAESTRUCTURA TI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920240"/>
            <a:ext cx="8503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Diseño y presupuesto de una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infraestructura de red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65760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Edificio corporativo de cinco pisos · 400 usuarios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892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Benjamín Peña · Francisco Morales · Julián Pacheco · Martín Burgos · Matías Muñoz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52578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B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Docente: Eduardo Correa Marchant  ·  NRC 8485  ·  Septiembre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Estructura de la presentación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60704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Quince minutos · cinco expositores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11027664" cy="713232"/>
          </a:xfrm>
          <a:prstGeom prst="roundRect">
            <a:avLst>
              <a:gd name="adj" fmla="val 11538"/>
            </a:avLst>
          </a:prstGeom>
          <a:solidFill>
            <a:srgbClr val="F2F7FD"/>
          </a:solidFill>
          <a:ln w="12700">
            <a:solidFill>
              <a:srgbClr val="DCE8F7"/>
            </a:solidFill>
            <a:prstDash val="solid"/>
          </a:ln>
          <a:effectLst>
            <a:outerShdw sx="100000" sy="100000" kx="0" ky="0" algn="bl" rotWithShape="0" blurRad="101600" dist="19050" dir="5400000">
              <a:srgbClr val="1B3A6B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37944"/>
            <a:ext cx="420624" cy="420624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8379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783080"/>
            <a:ext cx="6949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problema y los requerimientos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412480" y="1783080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45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Benjamín Peña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66928" y="2569464"/>
            <a:ext cx="11027664" cy="713232"/>
          </a:xfrm>
          <a:prstGeom prst="roundRect">
            <a:avLst>
              <a:gd name="adj" fmla="val 11538"/>
            </a:avLst>
          </a:prstGeom>
          <a:solidFill>
            <a:srgbClr val="F2F7FD"/>
          </a:solidFill>
          <a:ln w="12700">
            <a:solidFill>
              <a:srgbClr val="DCE8F7"/>
            </a:solidFill>
            <a:prstDash val="solid"/>
          </a:ln>
          <a:effectLst>
            <a:outerShdw sx="100000" sy="100000" kx="0" ky="0" algn="bl" rotWithShape="0" blurRad="101600" dist="19050" dir="5400000">
              <a:srgbClr val="1B3A6B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77240" y="2715768"/>
            <a:ext cx="420624" cy="420624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" y="27157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2660904"/>
            <a:ext cx="6949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Selección del cableado y normativas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8412480" y="2660904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45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Francisco Morales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66928" y="3447288"/>
            <a:ext cx="11027664" cy="713232"/>
          </a:xfrm>
          <a:prstGeom prst="roundRect">
            <a:avLst>
              <a:gd name="adj" fmla="val 11538"/>
            </a:avLst>
          </a:prstGeom>
          <a:solidFill>
            <a:srgbClr val="F2F7FD"/>
          </a:solidFill>
          <a:ln w="12700">
            <a:solidFill>
              <a:srgbClr val="DCE8F7"/>
            </a:solidFill>
            <a:prstDash val="solid"/>
          </a:ln>
          <a:effectLst>
            <a:outerShdw sx="100000" sy="100000" kx="0" ky="0" algn="bl" rotWithShape="0" blurRad="101600" dist="19050" dir="5400000">
              <a:srgbClr val="1B3A6B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7240" y="3593592"/>
            <a:ext cx="420624" cy="420624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7240" y="35935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3538728"/>
            <a:ext cx="6949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y diseño físico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412480" y="3538728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45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Julián Pacheco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66928" y="4325112"/>
            <a:ext cx="11027664" cy="713232"/>
          </a:xfrm>
          <a:prstGeom prst="roundRect">
            <a:avLst>
              <a:gd name="adj" fmla="val 11538"/>
            </a:avLst>
          </a:prstGeom>
          <a:solidFill>
            <a:srgbClr val="F2F7FD"/>
          </a:solidFill>
          <a:ln w="12700">
            <a:solidFill>
              <a:srgbClr val="DCE8F7"/>
            </a:solidFill>
            <a:prstDash val="solid"/>
          </a:ln>
          <a:effectLst>
            <a:outerShdw sx="100000" sy="100000" kx="0" ky="0" algn="bl" rotWithShape="0" blurRad="101600" dist="19050" dir="5400000">
              <a:srgbClr val="1B3A6B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4471416"/>
            <a:ext cx="420624" cy="420624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77240" y="44714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371600" y="4416552"/>
            <a:ext cx="6949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inalámbrica y seguridad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8412480" y="4416552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45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Martín Burgos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66928" y="5202936"/>
            <a:ext cx="11027664" cy="713232"/>
          </a:xfrm>
          <a:prstGeom prst="roundRect">
            <a:avLst>
              <a:gd name="adj" fmla="val 11538"/>
            </a:avLst>
          </a:prstGeom>
          <a:solidFill>
            <a:srgbClr val="F2F7FD"/>
          </a:solidFill>
          <a:ln w="12700">
            <a:solidFill>
              <a:srgbClr val="DCE8F7"/>
            </a:solidFill>
            <a:prstDash val="solid"/>
          </a:ln>
          <a:effectLst>
            <a:outerShdw sx="100000" sy="100000" kx="0" ky="0" algn="bl" rotWithShape="0" blurRad="101600" dist="19050" dir="5400000">
              <a:srgbClr val="1B3A6B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77240" y="5349240"/>
            <a:ext cx="420624" cy="420624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77240" y="53492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1371600" y="5294376"/>
            <a:ext cx="6949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Presupuesto y conclusiones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8412480" y="5294376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45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Matías Muñoz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566928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1 · Infraestructura TI · NRC 8485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problema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60704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edificio nuevo, sin ningún diseño de red previo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600200"/>
            <a:ext cx="5669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B3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Cinco pisos habilitados para actividades administrativas y profesionales.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B3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 usuarios por piso, 400 en total, con conectividad cableada e inalámbrica.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B3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existe diseño de infraestructura: todo debe definirse desde cero.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B3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antecedentes solo fijan pisos y usuarios; el resto es decisión de diseño.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537960" y="1572768"/>
            <a:ext cx="5056632" cy="4023360"/>
          </a:xfrm>
          <a:prstGeom prst="roundRect">
            <a:avLst>
              <a:gd name="adj" fmla="val 2045"/>
            </a:avLst>
          </a:prstGeom>
          <a:solidFill>
            <a:srgbClr val="DCE8F7"/>
          </a:solidFill>
          <a:ln w="12700">
            <a:solidFill>
              <a:srgbClr val="DCE8F7"/>
            </a:solidFill>
            <a:prstDash val="solid"/>
          </a:ln>
          <a:effectLst>
            <a:outerShdw sx="100000" sy="100000" kx="0" ky="0" algn="bl" rotWithShape="0" blurRad="101600" dist="19050" dir="5400000">
              <a:srgbClr val="1B3A6B">
                <a:alpha val="1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812280" y="1783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DETERMINAR POR EL EQUIPO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812280" y="221284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Puntos de red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9144000" y="221284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C45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¿cuántos y dónde?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812280" y="27614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Tecnología de cableado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9144000" y="276148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C45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¿Cat 5e, 6, 6A o fibra?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812280" y="33101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Equipamiento de red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9144000" y="331012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C45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¿cuántos switches?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812280" y="38587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Backbone entre pisos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9144000" y="385876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C45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medio y capacidad?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812280" y="44074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Points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9144000" y="440740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C45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¿cuántos por piso?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812280" y="495604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Presupuesto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9144000" y="495604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C45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¿cuánto cuesta todo esto?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66928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1 · Infraestructura TI · NRC 8485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Requerimientos derivados del caso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60704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plano de arquitectura y del enunciado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3547872" cy="1828800"/>
          </a:xfrm>
          <a:prstGeom prst="roundRect">
            <a:avLst>
              <a:gd name="adj" fmla="val 4500"/>
            </a:avLst>
          </a:prstGeom>
          <a:solidFill>
            <a:srgbClr val="F2F7FD"/>
          </a:solidFill>
          <a:ln w="12700">
            <a:solidFill>
              <a:srgbClr val="DCE8F7"/>
            </a:solidFill>
            <a:prstDash val="solid"/>
          </a:ln>
          <a:effectLst>
            <a:outerShdw sx="100000" sy="100000" kx="0" ky="0" algn="bl" rotWithShape="0" blurRad="101600" dist="19050" dir="5400000">
              <a:srgbClr val="1B3A6B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29384"/>
            <a:ext cx="365760" cy="365760"/>
          </a:xfrm>
          <a:prstGeom prst="ellipse">
            <a:avLst/>
          </a:prstGeom>
          <a:solidFill>
            <a:srgbClr val="F7E3D2"/>
          </a:solidFill>
          <a:ln w="12700">
            <a:solidFill>
              <a:srgbClr val="F7E3D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039112"/>
            <a:ext cx="146304" cy="146304"/>
          </a:xfrm>
          <a:prstGeom prst="ellipse">
            <a:avLst/>
          </a:prstGeom>
          <a:solidFill>
            <a:srgbClr val="C4571B"/>
          </a:solidFill>
          <a:ln w="12700">
            <a:solidFill>
              <a:srgbClr val="C4571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280160" y="1911096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Conectividad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441448"/>
            <a:ext cx="3054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F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 usuarios por piso con puestos reubicables sin obra civil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34256" y="1691640"/>
            <a:ext cx="3547872" cy="1828800"/>
          </a:xfrm>
          <a:prstGeom prst="roundRect">
            <a:avLst>
              <a:gd name="adj" fmla="val 4500"/>
            </a:avLst>
          </a:prstGeom>
          <a:solidFill>
            <a:srgbClr val="F2F7FD"/>
          </a:solidFill>
          <a:ln w="12700">
            <a:solidFill>
              <a:srgbClr val="DCE8F7"/>
            </a:solidFill>
            <a:prstDash val="solid"/>
          </a:ln>
          <a:effectLst>
            <a:outerShdw sx="100000" sy="100000" kx="0" ky="0" algn="bl" rotWithShape="0" blurRad="101600" dist="19050" dir="5400000">
              <a:srgbClr val="1B3A6B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0" y="1929384"/>
            <a:ext cx="365760" cy="365760"/>
          </a:xfrm>
          <a:prstGeom prst="ellipse">
            <a:avLst/>
          </a:prstGeom>
          <a:solidFill>
            <a:srgbClr val="F7E3D2"/>
          </a:solidFill>
          <a:ln w="12700">
            <a:solidFill>
              <a:srgbClr val="F7E3D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81728" y="2039112"/>
            <a:ext cx="146304" cy="146304"/>
          </a:xfrm>
          <a:prstGeom prst="ellipse">
            <a:avLst/>
          </a:prstGeom>
          <a:solidFill>
            <a:srgbClr val="C4571B"/>
          </a:solidFill>
          <a:ln w="12700">
            <a:solidFill>
              <a:srgbClr val="C4571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047488" y="1911096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Cobertura WiFi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590288" y="2441448"/>
            <a:ext cx="3054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F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Continua en toda la planta, con itinerancia entre celdas y pisos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01584" y="1691640"/>
            <a:ext cx="3547872" cy="1828800"/>
          </a:xfrm>
          <a:prstGeom prst="roundRect">
            <a:avLst>
              <a:gd name="adj" fmla="val 4500"/>
            </a:avLst>
          </a:prstGeom>
          <a:solidFill>
            <a:srgbClr val="F2F7FD"/>
          </a:solidFill>
          <a:ln w="12700">
            <a:solidFill>
              <a:srgbClr val="DCE8F7"/>
            </a:solidFill>
            <a:prstDash val="solid"/>
          </a:ln>
          <a:effectLst>
            <a:outerShdw sx="100000" sy="100000" kx="0" ky="0" algn="bl" rotWithShape="0" blurRad="101600" dist="19050" dir="5400000">
              <a:srgbClr val="1B3A6B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39328" y="1929384"/>
            <a:ext cx="365760" cy="365760"/>
          </a:xfrm>
          <a:prstGeom prst="ellipse">
            <a:avLst/>
          </a:prstGeom>
          <a:solidFill>
            <a:srgbClr val="F7E3D2"/>
          </a:solidFill>
          <a:ln w="12700">
            <a:solidFill>
              <a:srgbClr val="F7E3D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49056" y="2039112"/>
            <a:ext cx="146304" cy="146304"/>
          </a:xfrm>
          <a:prstGeom prst="ellipse">
            <a:avLst/>
          </a:prstGeom>
          <a:solidFill>
            <a:srgbClr val="C4571B"/>
          </a:solidFill>
          <a:ln w="12700">
            <a:solidFill>
              <a:srgbClr val="C4571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814816" y="1911096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Interconexión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357616" y="2441448"/>
            <a:ext cx="3054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F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Alta capacidad entre los cinco pisos y salida única a Internet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66928" y="3749040"/>
            <a:ext cx="3547872" cy="1828800"/>
          </a:xfrm>
          <a:prstGeom prst="roundRect">
            <a:avLst>
              <a:gd name="adj" fmla="val 4500"/>
            </a:avLst>
          </a:prstGeom>
          <a:solidFill>
            <a:srgbClr val="F2F7FD"/>
          </a:solidFill>
          <a:ln w="12700">
            <a:solidFill>
              <a:srgbClr val="DCE8F7"/>
            </a:solidFill>
            <a:prstDash val="solid"/>
          </a:ln>
          <a:effectLst>
            <a:outerShdw sx="100000" sy="100000" kx="0" ky="0" algn="bl" rotWithShape="0" blurRad="101600" dist="19050" dir="5400000">
              <a:srgbClr val="1B3A6B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04672" y="3986784"/>
            <a:ext cx="365760" cy="365760"/>
          </a:xfrm>
          <a:prstGeom prst="ellipse">
            <a:avLst/>
          </a:prstGeom>
          <a:solidFill>
            <a:srgbClr val="F7E3D2"/>
          </a:solidFill>
          <a:ln w="12700">
            <a:solidFill>
              <a:srgbClr val="F7E3D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4400" y="4096512"/>
            <a:ext cx="146304" cy="146304"/>
          </a:xfrm>
          <a:prstGeom prst="ellipse">
            <a:avLst/>
          </a:prstGeom>
          <a:solidFill>
            <a:srgbClr val="C4571B"/>
          </a:solidFill>
          <a:ln w="12700">
            <a:solidFill>
              <a:srgbClr val="C4571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280160" y="3968496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Segmentación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4498848"/>
            <a:ext cx="3054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F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Aislar tráfico corporativo, de invitados y de sistemas del edificio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334256" y="3749040"/>
            <a:ext cx="3547872" cy="1828800"/>
          </a:xfrm>
          <a:prstGeom prst="roundRect">
            <a:avLst>
              <a:gd name="adj" fmla="val 4500"/>
            </a:avLst>
          </a:prstGeom>
          <a:solidFill>
            <a:srgbClr val="F2F7FD"/>
          </a:solidFill>
          <a:ln w="12700">
            <a:solidFill>
              <a:srgbClr val="DCE8F7"/>
            </a:solidFill>
            <a:prstDash val="solid"/>
          </a:ln>
          <a:effectLst>
            <a:outerShdw sx="100000" sy="100000" kx="0" ky="0" algn="bl" rotWithShape="0" blurRad="101600" dist="19050" dir="5400000">
              <a:srgbClr val="1B3A6B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0" y="3986784"/>
            <a:ext cx="365760" cy="365760"/>
          </a:xfrm>
          <a:prstGeom prst="ellipse">
            <a:avLst/>
          </a:prstGeom>
          <a:solidFill>
            <a:srgbClr val="F7E3D2"/>
          </a:solidFill>
          <a:ln w="12700">
            <a:solidFill>
              <a:srgbClr val="F7E3D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81728" y="4096512"/>
            <a:ext cx="146304" cy="146304"/>
          </a:xfrm>
          <a:prstGeom prst="ellipse">
            <a:avLst/>
          </a:prstGeom>
          <a:solidFill>
            <a:srgbClr val="C4571B"/>
          </a:solidFill>
          <a:ln w="12700">
            <a:solidFill>
              <a:srgbClr val="C4571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047488" y="3968496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Disponibilidad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4590288" y="4498848"/>
            <a:ext cx="3054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F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Tolerar la falla de un equipo, un enlace o el suministro eléctrico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8101584" y="3749040"/>
            <a:ext cx="3547872" cy="1828800"/>
          </a:xfrm>
          <a:prstGeom prst="roundRect">
            <a:avLst>
              <a:gd name="adj" fmla="val 4500"/>
            </a:avLst>
          </a:prstGeom>
          <a:solidFill>
            <a:srgbClr val="F2F7FD"/>
          </a:solidFill>
          <a:ln w="12700">
            <a:solidFill>
              <a:srgbClr val="DCE8F7"/>
            </a:solidFill>
            <a:prstDash val="solid"/>
          </a:ln>
          <a:effectLst>
            <a:outerShdw sx="100000" sy="100000" kx="0" ky="0" algn="bl" rotWithShape="0" blurRad="101600" dist="19050" dir="5400000">
              <a:srgbClr val="1B3A6B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339328" y="3986784"/>
            <a:ext cx="365760" cy="365760"/>
          </a:xfrm>
          <a:prstGeom prst="ellipse">
            <a:avLst/>
          </a:prstGeom>
          <a:solidFill>
            <a:srgbClr val="F7E3D2"/>
          </a:solidFill>
          <a:ln w="12700">
            <a:solidFill>
              <a:srgbClr val="F7E3D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449056" y="4096512"/>
            <a:ext cx="146304" cy="146304"/>
          </a:xfrm>
          <a:prstGeom prst="ellipse">
            <a:avLst/>
          </a:prstGeom>
          <a:solidFill>
            <a:srgbClr val="C4571B"/>
          </a:solidFill>
          <a:ln w="12700">
            <a:solidFill>
              <a:srgbClr val="C4571B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814816" y="3968496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Crecimiento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8357616" y="4498848"/>
            <a:ext cx="3054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F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Escalar sin rehacer cableado ni espacios de telecomunicaciones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566928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1 · Infraestructura TI · NRC 8485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Dimensionamiento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60704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números que gobiernan todo el diseño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600200"/>
            <a:ext cx="2651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192</a:t>
            </a:r>
            <a:endParaRPr lang="en-US" sz="42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2368296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4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salidas Cat 6A por piso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A64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960 en el edificio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3310128" y="1600200"/>
            <a:ext cx="2651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144</a:t>
            </a:r>
            <a:endParaRPr lang="en-US" sz="4200" dirty="0"/>
          </a:p>
        </p:txBody>
      </p:sp>
      <p:sp>
        <p:nvSpPr>
          <p:cNvPr id="7" name="Text 5"/>
          <p:cNvSpPr txBox="1"/>
          <p:nvPr/>
        </p:nvSpPr>
        <p:spPr>
          <a:xfrm>
            <a:off x="3310128" y="2368296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4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puertos activos por piso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A64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switches de 48 puertos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6053328" y="1600200"/>
            <a:ext cx="2651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4200" dirty="0"/>
          </a:p>
        </p:txBody>
      </p:sp>
      <p:sp>
        <p:nvSpPr>
          <p:cNvPr id="9" name="Text 7"/>
          <p:cNvSpPr txBox="1"/>
          <p:nvPr/>
        </p:nvSpPr>
        <p:spPr>
          <a:xfrm>
            <a:off x="6053328" y="2368296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4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Points por piso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A64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en el edificio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8796528" y="1600200"/>
            <a:ext cx="279806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C457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4200" dirty="0"/>
          </a:p>
        </p:txBody>
      </p:sp>
      <p:sp>
        <p:nvSpPr>
          <p:cNvPr id="11" name="Text 9"/>
          <p:cNvSpPr txBox="1"/>
          <p:nvPr/>
        </p:nvSpPr>
        <p:spPr>
          <a:xfrm>
            <a:off x="8796528" y="2368296"/>
            <a:ext cx="27980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4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hilos de fibra OM4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A64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piso hacia el núcleo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66928" y="3337560"/>
            <a:ext cx="11027664" cy="2331720"/>
          </a:xfrm>
          <a:prstGeom prst="roundRect">
            <a:avLst>
              <a:gd name="adj" fmla="val 3529"/>
            </a:avLst>
          </a:prstGeom>
          <a:solidFill>
            <a:srgbClr val="F2F7FD"/>
          </a:solidFill>
          <a:ln w="12700">
            <a:solidFill>
              <a:srgbClr val="DCE8F7"/>
            </a:solidFill>
            <a:prstDash val="solid"/>
          </a:ln>
          <a:effectLst>
            <a:outerShdw sx="100000" sy="100000" kx="0" ky="0" algn="bl" rotWithShape="0" blurRad="101600" dist="19050" dir="5400000">
              <a:srgbClr val="1B3A6B">
                <a:alpha val="1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68680" y="35844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llegamos a las 192 salidas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4041648"/>
            <a:ext cx="10424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B3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 puestos × 2 salidas (mínimo ANSI/TIA-568)  =  160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B3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+ 6 AP, 4 cámaras IP, 2 control de acceso, 4 impresoras y salas  =  176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B3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+ 16 de reserva cableada  =  192, es decir 4 patch panels de 48 puertos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66928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1 · Infraestructura TI · NRC 8485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Selección del cableado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60704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Cuatro alternativas evaluadas, dos adoptadas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00200"/>
          <a:ext cx="11027664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2011680"/>
                <a:gridCol w="2011680"/>
                <a:gridCol w="2103120"/>
                <a:gridCol w="2066544"/>
              </a:tblGrid>
              <a:tr h="3337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Característica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 5e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 6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 6A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Fibra OM4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3337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35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Ancho de banda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35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 MHz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35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250 MHz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3A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500 MHz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3A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4.700 MHz·km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F7"/>
                    </a:solidFill>
                  </a:tcPr>
                </a:tc>
              </a:tr>
              <a:tr h="3337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35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Velocidad a 100 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35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Gbps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35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Gbps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3A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 Gbps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3A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10–100 Gbps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F7"/>
                    </a:solidFill>
                  </a:tcPr>
                </a:tc>
              </a:tr>
              <a:tr h="3337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35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Distancia del canal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35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 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35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 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3A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 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3A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400 m a 10 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F7"/>
                    </a:solidFill>
                  </a:tcPr>
                </a:tc>
              </a:tr>
              <a:tr h="3337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35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Soporte PoE++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35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Limitado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35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Aceptable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3A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Óptimo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3A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aplica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F7"/>
                    </a:solidFill>
                  </a:tcPr>
                </a:tc>
              </a:tr>
              <a:tr h="3337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35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Costo relativo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35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35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3A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3A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F7"/>
                    </a:solidFill>
                  </a:tcPr>
                </a:tc>
              </a:tr>
              <a:tr h="3337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35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Vida útil estimada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35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5–8 años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35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8–12 años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3A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15–20 años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3A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 años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F7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66928" y="4160520"/>
            <a:ext cx="5394960" cy="1600200"/>
          </a:xfrm>
          <a:prstGeom prst="roundRect">
            <a:avLst>
              <a:gd name="adj" fmla="val 5143"/>
            </a:avLst>
          </a:prstGeom>
          <a:solidFill>
            <a:srgbClr val="DCE8F7"/>
          </a:solidFill>
          <a:ln w="12700">
            <a:solidFill>
              <a:srgbClr val="DCE8F7"/>
            </a:solidFill>
            <a:prstDash val="solid"/>
          </a:ln>
          <a:effectLst>
            <a:outerShdw sx="100000" sy="100000" kx="0" ky="0" algn="bl" rotWithShape="0" blurRad="101600" dist="19050" dir="5400000">
              <a:srgbClr val="1B3A6B">
                <a:alpha val="10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68680" y="43434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Cableado horizontal:  Cat 6A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475488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3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10GBASE-T en los 100 m del canal, mejor disipación bajo PoE++ y el doble de vida útil que Cat 6.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199632" y="4160520"/>
            <a:ext cx="5394960" cy="1600200"/>
          </a:xfrm>
          <a:prstGeom prst="roundRect">
            <a:avLst>
              <a:gd name="adj" fmla="val 5143"/>
            </a:avLst>
          </a:prstGeom>
          <a:solidFill>
            <a:srgbClr val="F7E3D2"/>
          </a:solidFill>
          <a:ln w="12700">
            <a:solidFill>
              <a:srgbClr val="E8C9AE"/>
            </a:solidFill>
            <a:prstDash val="solid"/>
          </a:ln>
          <a:effectLst>
            <a:outerShdw sx="100000" sy="100000" kx="0" ky="0" algn="bl" rotWithShape="0" blurRad="101600" dist="19050" dir="5400000">
              <a:srgbClr val="1B3A6B">
                <a:alpha val="10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6501384" y="43434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5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Backbone vertical:  fibra OM4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6501384" y="475488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3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 m a 10 Gbps, inmunidad electromagnética total y desacople eléctrico entre pisos.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566928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1 · Infraestructura TI · NRC 8485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la norma a la decisión de diseño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60704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estándar se tradujo en una cifra concreta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600200"/>
            <a:ext cx="11027664" cy="987552"/>
          </a:xfrm>
          <a:prstGeom prst="roundRect">
            <a:avLst>
              <a:gd name="adj" fmla="val 8333"/>
            </a:avLst>
          </a:prstGeom>
          <a:solidFill>
            <a:srgbClr val="F2F7FD"/>
          </a:solidFill>
          <a:ln w="12700">
            <a:solidFill>
              <a:srgbClr val="DCE8F7"/>
            </a:solidFill>
            <a:prstDash val="solid"/>
          </a:ln>
          <a:effectLst>
            <a:outerShdw sx="100000" sy="100000" kx="0" ky="0" algn="bl" rotWithShape="0" blurRad="101600" dist="19050" dir="5400000">
              <a:srgbClr val="1B3A6B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72821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45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ANSI/TIA-568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0756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Cableado de telecomunicaciones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3383280" y="1728216"/>
            <a:ext cx="7955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3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Mínimo 2 salidas por área de trabajo → 160 salidas de usuario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3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Canal máximo de 100 m → TR al centro de la planta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6928" y="2724912"/>
            <a:ext cx="11027664" cy="987552"/>
          </a:xfrm>
          <a:prstGeom prst="roundRect">
            <a:avLst>
              <a:gd name="adj" fmla="val 8333"/>
            </a:avLst>
          </a:prstGeom>
          <a:solidFill>
            <a:srgbClr val="F2F7FD"/>
          </a:solidFill>
          <a:ln w="12700">
            <a:solidFill>
              <a:srgbClr val="DCE8F7"/>
            </a:solidFill>
            <a:prstDash val="solid"/>
          </a:ln>
          <a:effectLst>
            <a:outerShdw sx="100000" sy="100000" kx="0" ky="0" algn="bl" rotWithShape="0" blurRad="101600" dist="19050" dir="5400000">
              <a:srgbClr val="1B3A6B">
                <a:alpha val="1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822960" y="28529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45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ANSI/TIA-569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2004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Espacios y canalizaciones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3383280" y="2852928"/>
            <a:ext cx="7955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3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 mínimo de 3,0 × 2,4 m para 1.000 m² → sala de 3,0 × 2,6 m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3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Ocupación de canalización ≤ 40 % → escalerilla de 300 mm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6928" y="3849624"/>
            <a:ext cx="11027664" cy="987552"/>
          </a:xfrm>
          <a:prstGeom prst="roundRect">
            <a:avLst>
              <a:gd name="adj" fmla="val 8333"/>
            </a:avLst>
          </a:prstGeom>
          <a:solidFill>
            <a:srgbClr val="F2F7FD"/>
          </a:solidFill>
          <a:ln w="12700">
            <a:solidFill>
              <a:srgbClr val="DCE8F7"/>
            </a:solidFill>
            <a:prstDash val="solid"/>
          </a:ln>
          <a:effectLst>
            <a:outerShdw sx="100000" sy="100000" kx="0" ky="0" algn="bl" rotWithShape="0" blurRad="101600" dist="19050" dir="5400000">
              <a:srgbClr val="1B3A6B">
                <a:alpha val="1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22960" y="39776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45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ISO/IEC 11801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32511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Cableado genérico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3383280" y="3977640"/>
            <a:ext cx="7955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3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Clase EA exigida al canal → Categoría 6A en el horizontal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3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Clase OM4 → fibra multimodo en el backbone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6928" y="4974336"/>
            <a:ext cx="11027664" cy="987552"/>
          </a:xfrm>
          <a:prstGeom prst="roundRect">
            <a:avLst>
              <a:gd name="adj" fmla="val 8333"/>
            </a:avLst>
          </a:prstGeom>
          <a:solidFill>
            <a:srgbClr val="F2F7FD"/>
          </a:solidFill>
          <a:ln w="12700">
            <a:solidFill>
              <a:srgbClr val="DCE8F7"/>
            </a:solidFill>
            <a:prstDash val="solid"/>
          </a:ln>
          <a:effectLst>
            <a:outerShdw sx="100000" sy="100000" kx="0" ky="0" algn="bl" rotWithShape="0" blurRad="101600" dist="19050" dir="5400000">
              <a:srgbClr val="1B3A6B">
                <a:alpha val="1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22960" y="510235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45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IEEE 802.11ax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44982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Redes inalámbricas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3383280" y="5102352"/>
            <a:ext cx="7955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3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OFDMA y MU-MIMO para alta densidad → WiFi 6 4×4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3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802.11r/k/v → itinerancia entre celdas y entre pisos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566928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1 · Infraestructura TI · NRC 8485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 de la red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60704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Jerarquía de dos capas con núcleo colapsado redundante</a:t>
            </a:r>
            <a:endParaRPr lang="en-US" sz="1300" dirty="0"/>
          </a:p>
        </p:txBody>
      </p:sp>
      <p:pic>
        <p:nvPicPr>
          <p:cNvPr id="4" name="Image 0" descr="/home/claude/taller1/fig/fig3_topologi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481328"/>
            <a:ext cx="10735056" cy="431596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66928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1 · Infraestructura TI · NRC 8485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Diseño físico del piso tipo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60704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Salidas, canalizaciones y cuarto de telecomunicaciones</a:t>
            </a:r>
            <a:endParaRPr lang="en-US" sz="1300" dirty="0"/>
          </a:p>
        </p:txBody>
      </p:sp>
      <p:pic>
        <p:nvPicPr>
          <p:cNvPr id="4" name="Image 0" descr="/home/claude/taller1/fig/fig1_plano_cablead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63040"/>
            <a:ext cx="7406640" cy="430310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0" y="1536192"/>
            <a:ext cx="3364992" cy="4023360"/>
          </a:xfrm>
          <a:prstGeom prst="roundRect">
            <a:avLst>
              <a:gd name="adj" fmla="val 2446"/>
            </a:avLst>
          </a:prstGeom>
          <a:solidFill>
            <a:srgbClr val="F2F7FD"/>
          </a:solidFill>
          <a:ln w="12700">
            <a:solidFill>
              <a:srgbClr val="DCE8F7"/>
            </a:solidFill>
            <a:prstDash val="solid"/>
          </a:ln>
          <a:effectLst>
            <a:outerShdw sx="100000" sy="100000" kx="0" ky="0" algn="bl" rotWithShape="0" blurRad="101600" dist="19050" dir="5400000">
              <a:srgbClr val="1B3A6B">
                <a:alpha val="10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503920" y="171907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Decisiones del plano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503920" y="2148840"/>
            <a:ext cx="285292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B3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 en el núcleo central: el enlace más largo queda bajo los 90 m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B3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Escalerilla de 300 mm por los pasillos, sobre cielo falso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B3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Derivaciones en ducto EMT hacia cada área de trabajo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B3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Contiguo al shaft vertical: acorta el backbone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66928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1 · Infraestructura TI · NRC 8485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Diseño de la red inalámbrica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60704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Seis Access Points por piso, dimensionados por capacidad</a:t>
            </a:r>
            <a:endParaRPr lang="en-US" sz="1300" dirty="0"/>
          </a:p>
        </p:txBody>
      </p:sp>
      <p:pic>
        <p:nvPicPr>
          <p:cNvPr id="4" name="Image 0" descr="/home/claude/taller1/fig/fig2_plano_wif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760720" cy="480701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29400" y="1536192"/>
            <a:ext cx="4965192" cy="2148840"/>
          </a:xfrm>
          <a:prstGeom prst="roundRect">
            <a:avLst>
              <a:gd name="adj" fmla="val 3830"/>
            </a:avLst>
          </a:prstGeom>
          <a:solidFill>
            <a:srgbClr val="DCE8F7"/>
          </a:solidFill>
          <a:ln w="12700">
            <a:solidFill>
              <a:srgbClr val="DCE8F7"/>
            </a:solidFill>
            <a:prstDash val="solid"/>
          </a:ln>
          <a:effectLst>
            <a:outerShdw sx="100000" sy="100000" kx="0" ky="0" algn="bl" rotWithShape="0" blurRad="101600" dist="19050" dir="5400000">
              <a:srgbClr val="1B3A6B">
                <a:alpha val="10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903720" y="169164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Criterio de capacidad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6903720" y="2057400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3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 usuarios × 2,0 dispositivos = 160 clientes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3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160 ÷ 30 por radio de 5 GHz = 6 AP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6903720" y="292608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45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cobertura bastarían 5 AP; rige el criterio más exigente.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629400" y="3840480"/>
            <a:ext cx="4965192" cy="1920240"/>
          </a:xfrm>
          <a:prstGeom prst="roundRect">
            <a:avLst>
              <a:gd name="adj" fmla="val 4286"/>
            </a:avLst>
          </a:prstGeom>
          <a:solidFill>
            <a:srgbClr val="F2F7FD"/>
          </a:solidFill>
          <a:ln w="12700">
            <a:solidFill>
              <a:srgbClr val="DCE8F7"/>
            </a:solidFill>
            <a:prstDash val="solid"/>
          </a:ln>
          <a:effectLst>
            <a:outerShdw sx="100000" sy="100000" kx="0" ky="0" algn="bl" rotWithShape="0" blurRad="101600" dist="19050" dir="5400000">
              <a:srgbClr val="1B3A6B">
                <a:alpha val="10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6903720" y="402336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Seguridad inalámbrica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6903720" y="4407408"/>
            <a:ext cx="4389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B3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WPA3-Enterprise con 802.1X y RADIUS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B3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802.11w obligatorio y detección de AP no autorizados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B3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Invitados en VLAN aislada con portal cautivo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566928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1 · Infraestructura TI · NRC 8485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Backbone vertical y cuarto de telecomunicaciones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60704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Estrella jerárquica desde el SER del piso 1</a:t>
            </a:r>
            <a:endParaRPr lang="en-US" sz="1300" dirty="0"/>
          </a:p>
        </p:txBody>
      </p:sp>
      <p:pic>
        <p:nvPicPr>
          <p:cNvPr id="4" name="Image 0" descr="/home/claude/taller1/fig/fig4_elevac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65960" y="1353312"/>
            <a:ext cx="8229600" cy="4986299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66928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1 · Infraestructura TI · NRC 8485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Segmentación y seguridad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60704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Dominios acotados y control de acceso en cada puerto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00200"/>
          <a:ext cx="11027664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3017520"/>
                <a:gridCol w="2286000"/>
                <a:gridCol w="4489704"/>
              </a:tblGrid>
              <a:tr h="3154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VLAN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Servicio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Direccionamiento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Política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35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110–150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35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Datos cableados por piso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35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10.10.p.0/23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35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Acceso a servicios internos e Internet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35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35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Voz sobre IP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35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10.20.0.0/22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35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QoS prioritaria, aislada de datos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35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35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WiFi corporativo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35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10.30.0.0/22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35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Idéntica a datos cableados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35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35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WiFi invitados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35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10.31.0.0/22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35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Solo Internet, aislamiento de clientes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35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35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IoT y automatización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35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10.32.0.0/24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35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Lista blanca de destinos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35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35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Gestión de equipamiento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35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10.40.0.0/24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35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Acceso restringido a administradores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35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35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CCTV y control de acceso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35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10.50.0.0/24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35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Aislada del resto de la red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66928" y="4251960"/>
            <a:ext cx="11027664" cy="1508760"/>
          </a:xfrm>
          <a:prstGeom prst="roundRect">
            <a:avLst>
              <a:gd name="adj" fmla="val 5455"/>
            </a:avLst>
          </a:prstGeom>
          <a:solidFill>
            <a:srgbClr val="DCE8F7"/>
          </a:solidFill>
          <a:ln w="12700">
            <a:solidFill>
              <a:srgbClr val="DCE8F7"/>
            </a:solidFill>
            <a:prstDash val="solid"/>
          </a:ln>
          <a:effectLst>
            <a:outerShdw sx="100000" sy="100000" kx="0" ky="0" algn="bl" rotWithShape="0" blurRad="101600" dist="19050" dir="5400000">
              <a:srgbClr val="1B3A6B">
                <a:alpha val="10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68680" y="440740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Controles transversales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4773168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3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802.1X con RADIUS en puertos cableados e inalámbricos  ·  seguridad de puerto y límite de MAC  ·  inspección de DHCP y ARP  ·  protección de árbol de expansión  ·  firewall NGFW en alta disponibilidad  ·  VPN con doble factor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566928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1 · Infraestructura TI · NRC 8485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Presupuesto de implementación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60704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Precios de referencia del mercado chileno, septiembre de 2026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481328"/>
            <a:ext cx="35661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$ 207,1 M</a:t>
            </a:r>
            <a:endParaRPr lang="en-US" sz="42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2249424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4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inversión total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A64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contingencia e IVA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4224528" y="1481328"/>
            <a:ext cx="35661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$ 517.762</a:t>
            </a:r>
            <a:endParaRPr lang="en-US" sz="4200" dirty="0"/>
          </a:p>
        </p:txBody>
      </p:sp>
      <p:sp>
        <p:nvSpPr>
          <p:cNvPr id="7" name="Text 5"/>
          <p:cNvSpPr txBox="1"/>
          <p:nvPr/>
        </p:nvSpPr>
        <p:spPr>
          <a:xfrm>
            <a:off x="4224528" y="2249424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4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usuario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A64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 usuarios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7882128" y="1481328"/>
            <a:ext cx="371246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C457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$ 215.734</a:t>
            </a:r>
            <a:endParaRPr lang="en-US" sz="4200" dirty="0"/>
          </a:p>
        </p:txBody>
      </p:sp>
      <p:sp>
        <p:nvSpPr>
          <p:cNvPr id="9" name="Text 7"/>
          <p:cNvSpPr txBox="1"/>
          <p:nvPr/>
        </p:nvSpPr>
        <p:spPr>
          <a:xfrm>
            <a:off x="7882128" y="2249424"/>
            <a:ext cx="3712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4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salida instalada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A64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960 salidas</a:t>
            </a:r>
            <a:endParaRPr lang="en-US" sz="1150" dirty="0"/>
          </a:p>
        </p:txBody>
      </p:sp>
      <p:pic>
        <p:nvPicPr>
          <p:cNvPr id="10" name="Image 0" descr="/home/claude/taller1/fig/fig5_presupuest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23160" y="2944368"/>
            <a:ext cx="7315200" cy="3244909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566928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1 · Infraestructura TI · NRC 8485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 decisiones que más pesaron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60704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Alternativa evaluada y razón de la elección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645920"/>
            <a:ext cx="11027664" cy="1234440"/>
          </a:xfrm>
          <a:prstGeom prst="roundRect">
            <a:avLst>
              <a:gd name="adj" fmla="val 6667"/>
            </a:avLst>
          </a:prstGeom>
          <a:solidFill>
            <a:srgbClr val="F2F7FD"/>
          </a:solidFill>
          <a:ln w="12700">
            <a:solidFill>
              <a:srgbClr val="DCE8F7"/>
            </a:solidFill>
            <a:prstDash val="solid"/>
          </a:ln>
          <a:effectLst>
            <a:outerShdw sx="100000" sy="100000" kx="0" ky="0" algn="bl" rotWithShape="0" blurRad="101600" dist="19050" dir="5400000">
              <a:srgbClr val="1B3A6B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048256"/>
            <a:ext cx="420624" cy="420624"/>
          </a:xfrm>
          <a:prstGeom prst="ellipse">
            <a:avLst/>
          </a:prstGeom>
          <a:solidFill>
            <a:srgbClr val="C4571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04672" y="20482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81051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 6A en vez de Cat 6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221284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5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Ahorro descartado: $ 11,2 M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577840" y="1828800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3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 6 solo alcanza 10 Gbps en tramos cortos. El cableado es lo más caro de rehacer y lo que más dura: se privilegia la vida útil.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66928" y="3063240"/>
            <a:ext cx="11027664" cy="1234440"/>
          </a:xfrm>
          <a:prstGeom prst="roundRect">
            <a:avLst>
              <a:gd name="adj" fmla="val 6667"/>
            </a:avLst>
          </a:prstGeom>
          <a:solidFill>
            <a:srgbClr val="F2F7FD"/>
          </a:solidFill>
          <a:ln w="12700">
            <a:solidFill>
              <a:srgbClr val="DCE8F7"/>
            </a:solidFill>
            <a:prstDash val="solid"/>
          </a:ln>
          <a:effectLst>
            <a:outerShdw sx="100000" sy="100000" kx="0" ky="0" algn="bl" rotWithShape="0" blurRad="101600" dist="19050" dir="5400000">
              <a:srgbClr val="1B3A6B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04672" y="3465576"/>
            <a:ext cx="420624" cy="420624"/>
          </a:xfrm>
          <a:prstGeom prst="ellipse">
            <a:avLst/>
          </a:prstGeom>
          <a:solidFill>
            <a:srgbClr val="C4571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04672" y="34655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417320" y="322783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Núcleo redundante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363016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5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Ahorro descartado: ≈ $ 6 M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577840" y="3246120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3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solo switch de núcleo dejaría a los 400 usuarios dependiendo de un único equipo. El riesgo no es aceptable.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6928" y="4480560"/>
            <a:ext cx="11027664" cy="1234440"/>
          </a:xfrm>
          <a:prstGeom prst="roundRect">
            <a:avLst>
              <a:gd name="adj" fmla="val 6667"/>
            </a:avLst>
          </a:prstGeom>
          <a:solidFill>
            <a:srgbClr val="F2F7FD"/>
          </a:solidFill>
          <a:ln w="12700">
            <a:solidFill>
              <a:srgbClr val="DCE8F7"/>
            </a:solidFill>
            <a:prstDash val="solid"/>
          </a:ln>
          <a:effectLst>
            <a:outerShdw sx="100000" sy="100000" kx="0" ky="0" algn="bl" rotWithShape="0" blurRad="101600" dist="19050" dir="5400000">
              <a:srgbClr val="1B3A6B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04672" y="4882896"/>
            <a:ext cx="420624" cy="420624"/>
          </a:xfrm>
          <a:prstGeom prst="ellipse">
            <a:avLst/>
          </a:prstGeom>
          <a:solidFill>
            <a:srgbClr val="1E7A4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04672" y="48828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417320" y="464515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switches por piso, no 4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417320" y="504748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7A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Ahorro obtenido: ≈ $ 10,8 M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577840" y="4663440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3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cablean las 192 salidas, pero se activan 144 puertos. El cableado queda completo y la electrónica se dimensiona a la demanda real, con 47 % de holgura.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566928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1 · Infraestructura TI · NRC 8485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Capacidad de crecimiento incorporada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60704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reserva es parte del diseño, no un sobrante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737360"/>
            <a:ext cx="2596896" cy="2148840"/>
          </a:xfrm>
          <a:prstGeom prst="roundRect">
            <a:avLst>
              <a:gd name="adj" fmla="val 3830"/>
            </a:avLst>
          </a:prstGeom>
          <a:solidFill>
            <a:srgbClr val="F2F7FD"/>
          </a:solidFill>
          <a:ln w="12700">
            <a:solidFill>
              <a:srgbClr val="DCE8F7"/>
            </a:solidFill>
            <a:prstDash val="solid"/>
          </a:ln>
          <a:effectLst>
            <a:outerShdw sx="100000" sy="100000" kx="0" ky="0" algn="bl" rotWithShape="0" blurRad="101600" dist="19050" dir="5400000">
              <a:srgbClr val="1B3A6B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66928" y="2057400"/>
            <a:ext cx="25968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2825496"/>
            <a:ext cx="2596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4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salidas cableadas de reserva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A64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piso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364992" y="1737360"/>
            <a:ext cx="2596896" cy="2148840"/>
          </a:xfrm>
          <a:prstGeom prst="roundRect">
            <a:avLst>
              <a:gd name="adj" fmla="val 3830"/>
            </a:avLst>
          </a:prstGeom>
          <a:solidFill>
            <a:srgbClr val="F2F7FD"/>
          </a:solidFill>
          <a:ln w="12700">
            <a:solidFill>
              <a:srgbClr val="DCE8F7"/>
            </a:solidFill>
            <a:prstDash val="solid"/>
          </a:ln>
          <a:effectLst>
            <a:outerShdw sx="100000" sy="100000" kx="0" ky="0" algn="bl" rotWithShape="0" blurRad="101600" dist="19050" dir="5400000">
              <a:srgbClr val="1B3A6B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364992" y="2057400"/>
            <a:ext cx="25968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47 %</a:t>
            </a:r>
            <a:endParaRPr lang="en-US" sz="4200" dirty="0"/>
          </a:p>
        </p:txBody>
      </p:sp>
      <p:sp>
        <p:nvSpPr>
          <p:cNvPr id="9" name="Text 7"/>
          <p:cNvSpPr txBox="1"/>
          <p:nvPr/>
        </p:nvSpPr>
        <p:spPr>
          <a:xfrm>
            <a:off x="3364992" y="2825496"/>
            <a:ext cx="2596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4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holgura en puertos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A64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activos por piso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63056" y="1737360"/>
            <a:ext cx="2596896" cy="2148840"/>
          </a:xfrm>
          <a:prstGeom prst="roundRect">
            <a:avLst>
              <a:gd name="adj" fmla="val 3830"/>
            </a:avLst>
          </a:prstGeom>
          <a:solidFill>
            <a:srgbClr val="F2F7FD"/>
          </a:solidFill>
          <a:ln w="12700">
            <a:solidFill>
              <a:srgbClr val="DCE8F7"/>
            </a:solidFill>
            <a:prstDash val="solid"/>
          </a:ln>
          <a:effectLst>
            <a:outerShdw sx="100000" sy="100000" kx="0" ky="0" algn="bl" rotWithShape="0" blurRad="101600" dist="19050" dir="5400000">
              <a:srgbClr val="1B3A6B">
                <a:alpha val="1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163056" y="2057400"/>
            <a:ext cx="25968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C457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4200" dirty="0"/>
          </a:p>
        </p:txBody>
      </p:sp>
      <p:sp>
        <p:nvSpPr>
          <p:cNvPr id="12" name="Text 10"/>
          <p:cNvSpPr txBox="1"/>
          <p:nvPr/>
        </p:nvSpPr>
        <p:spPr>
          <a:xfrm>
            <a:off x="6163056" y="2825496"/>
            <a:ext cx="2596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4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hilos de fibra libres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A64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piso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961120" y="1737360"/>
            <a:ext cx="2596896" cy="2148840"/>
          </a:xfrm>
          <a:prstGeom prst="roundRect">
            <a:avLst>
              <a:gd name="adj" fmla="val 3830"/>
            </a:avLst>
          </a:prstGeom>
          <a:solidFill>
            <a:srgbClr val="F2F7FD"/>
          </a:solidFill>
          <a:ln w="12700">
            <a:solidFill>
              <a:srgbClr val="DCE8F7"/>
            </a:solidFill>
            <a:prstDash val="solid"/>
          </a:ln>
          <a:effectLst>
            <a:outerShdw sx="100000" sy="100000" kx="0" ky="0" algn="bl" rotWithShape="0" blurRad="101600" dist="19050" dir="5400000">
              <a:srgbClr val="1B3A6B">
                <a:alpha val="1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961120" y="2057400"/>
            <a:ext cx="25968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16U</a:t>
            </a:r>
            <a:endParaRPr lang="en-US" sz="4200" dirty="0"/>
          </a:p>
        </p:txBody>
      </p:sp>
      <p:sp>
        <p:nvSpPr>
          <p:cNvPr id="15" name="Text 13"/>
          <p:cNvSpPr txBox="1"/>
          <p:nvPr/>
        </p:nvSpPr>
        <p:spPr>
          <a:xfrm>
            <a:off x="8961120" y="2825496"/>
            <a:ext cx="2596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4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libres en cada rack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A64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38 % del gabinete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66928" y="4206240"/>
            <a:ext cx="11027664" cy="1572768"/>
          </a:xfrm>
          <a:prstGeom prst="roundRect">
            <a:avLst>
              <a:gd name="adj" fmla="val 5233"/>
            </a:avLst>
          </a:prstGeom>
          <a:solidFill>
            <a:srgbClr val="DCE8F7"/>
          </a:solidFill>
          <a:ln w="12700">
            <a:solidFill>
              <a:srgbClr val="DCE8F7"/>
            </a:solidFill>
            <a:prstDash val="solid"/>
          </a:ln>
          <a:effectLst>
            <a:outerShdw sx="100000" sy="100000" kx="0" ky="0" algn="bl" rotWithShape="0" blurRad="101600" dist="19050" dir="5400000">
              <a:srgbClr val="1B3A6B">
                <a:alpha val="1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68680" y="437083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habilita esa reserva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4736592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B3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Sumar el cuarto switch por piso y activar la segunda salida de cada puesto sin tender un solo cable nuevo.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B3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Migrar el backbone a 40 o 100 Gbps por piso usando los hilos de fibra ya tendidos.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66928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1 · Infraestructura TI · NRC 8485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227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2194560"/>
            <a:ext cx="5486400" cy="548640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6400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10515600" cy="914400"/>
          </a:xfrm>
          <a:prstGeom prst="roundRect">
            <a:avLst>
              <a:gd name="adj" fmla="val 8000"/>
            </a:avLst>
          </a:prstGeom>
          <a:solidFill>
            <a:srgbClr val="17325C"/>
          </a:solidFill>
          <a:ln w="12700">
            <a:solidFill>
              <a:srgbClr val="24447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1819656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FB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Rendimiento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3337560" y="1819656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4ED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Gbps por puesto, con capacidad de 10 Gbps sin recablear, y 20 Gbps agregados por piso hacia el núcleo.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22960" y="2788920"/>
            <a:ext cx="10515600" cy="914400"/>
          </a:xfrm>
          <a:prstGeom prst="roundRect">
            <a:avLst>
              <a:gd name="adj" fmla="val 8000"/>
            </a:avLst>
          </a:prstGeom>
          <a:solidFill>
            <a:srgbClr val="17325C"/>
          </a:solidFill>
          <a:ln w="12700">
            <a:solidFill>
              <a:srgbClr val="24447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97280" y="2916936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FB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Escalabilidad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337560" y="2916936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4ED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salidas de reserva y 47 % de holgura de puertos por piso, 8 hilos de fibra y 16U libres por rack.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" y="3886200"/>
            <a:ext cx="10515600" cy="914400"/>
          </a:xfrm>
          <a:prstGeom prst="roundRect">
            <a:avLst>
              <a:gd name="adj" fmla="val 8000"/>
            </a:avLst>
          </a:prstGeom>
          <a:solidFill>
            <a:srgbClr val="17325C"/>
          </a:solidFill>
          <a:ln w="12700">
            <a:solidFill>
              <a:srgbClr val="24447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97280" y="4014216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FB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Seguridad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337560" y="4014216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4ED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Segmentación por VLAN, 802.1X en cada puerto, WPA3-Enterprise y un perímetro con firewall redundante.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2960" y="4983480"/>
            <a:ext cx="10515600" cy="914400"/>
          </a:xfrm>
          <a:prstGeom prst="roundRect">
            <a:avLst>
              <a:gd name="adj" fmla="val 8000"/>
            </a:avLst>
          </a:prstGeom>
          <a:solidFill>
            <a:srgbClr val="17325C"/>
          </a:solidFill>
          <a:ln w="12700">
            <a:solidFill>
              <a:srgbClr val="24447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97280" y="5111496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FB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Costo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337560" y="5111496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4ED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$ 207.104.695 en total, $ 517.762 por usuario, con cada decisión cara evaluada frente a su alternativa.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6144768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normas no quedaron en el marco teórico: cada una determinó una cifra concreta del diseño.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227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3108960"/>
            <a:ext cx="5852160" cy="585216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26880" y="-1463040"/>
            <a:ext cx="4754880" cy="4754880"/>
          </a:xfrm>
          <a:prstGeom prst="ellipse">
            <a:avLst/>
          </a:prstGeom>
          <a:solidFill>
            <a:srgbClr val="17325C"/>
          </a:solidFill>
          <a:ln w="12700">
            <a:solidFill>
              <a:srgbClr val="17325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237744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4290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¿Preguntas?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51206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B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Benjamín Peña · Francisco Morales · Julián Pacheco · Martín Burgos · Matías Muñoz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Taller 1 — Infraestructura de red</dc:title>
  <dc:subject>PptxGenJS Presentation</dc:subject>
  <dc:creator>Grupo NRC 8485</dc:creator>
  <cp:lastModifiedBy>Grupo NRC 8485</cp:lastModifiedBy>
  <cp:revision>1</cp:revision>
  <dcterms:created xsi:type="dcterms:W3CDTF">2026-09-10T01:20:11Z</dcterms:created>
  <dcterms:modified xsi:type="dcterms:W3CDTF">2026-09-10T01:20:11Z</dcterms:modified>
</cp:coreProperties>
</file>