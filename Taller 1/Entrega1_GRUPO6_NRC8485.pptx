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4"/>
    <p:sldId id="260" r:id="rId6"/>
    <p:sldId id="261" r:id="rId7"/>
    <p:sldId id="263" r:id="rId9"/>
    <p:sldId id="264" r:id="rId10"/>
    <p:sldId id="265" r:id="rId11"/>
    <p:sldId id="266" r:id="rId12"/>
    <p:sldId id="268" r:id="rId14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AF50A5-B28D-49FF-8927-044286224C6A}" v="1" dt="2026-09-21T01:59:50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slide" Target="slides/slide13.xml"/><Relationship Id="rId17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224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Somos el grupo del NRC 8485 y vamos a presentar el diseño de infraestructura de red para un edificio corporativo de cinco pisos y 400 usuarios.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enunciado entrega muy pocos datos cerrados: pisos y usuarios. Todo lo demás lo tuvimos que determinar con criterios técnicos, y eso es justamente el trabajo.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cifra clave es 192 salidas por piso. No es arbitraria: sale del mínimo normativo de dos salidas por puesto, más los dispositivos del edificio, más una reserva, y cierra justo en cuatro patch panels de 48.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Comparamos las cuatro alternativas. Descartamos Cat 5e y Cat 6 porque no garantizan 10 gigabit en toda la planta. El cableado es lo más caro de rehacer, así que privilegiamos vida útil.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Núcleo colapsado en la sala de equipos del piso 1 y capa de acceso en cada piso. Cada piso llega al núcleo por dos enlaces de 10 gigabit en fibra, uno a cada switch de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plano es idéntico en los cinco pisos. Lo importante es la ubicación del cuarto de telecomunicaciones: al centro, para que ningún enlace supere los 90 metros.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Dimensionamos por capacidad y no solo por cobertura. En oficinas densas, celdas grandes con muchos clientes compitiendo rinden peor que celdas chicas con menor potencia.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TR se conecta directamente a la sala de equipos, sin encadenar pisos: así la falla de un piso intermedio no deja sin servicio a los de arriba. El rack deja 16U libres, un 38 por ciento.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inversión total llega a 207 millones de pesos, unos 224 mil dólares. La electrónica de red es el 34 por ciento y el cableado horizontal el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los cuatro criterios que pedía el caso: rendimiento, escalabilidad, seguridad y costo. Y con la idea que nos parece más importante: las normas mandaron sobre el diseño.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7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737360"/>
            <a:ext cx="5852160" cy="58521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058400" y="3291840"/>
            <a:ext cx="3840480" cy="3840480"/>
          </a:xfrm>
          <a:prstGeom prst="ellipse">
            <a:avLst/>
          </a:prstGeom>
          <a:solidFill>
            <a:srgbClr val="17325C"/>
          </a:solidFill>
          <a:ln w="12700">
            <a:solidFill>
              <a:srgbClr val="1732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· INFRAESTRUCTURA TI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8503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y presupuesto de una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de red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Edificio corporativo de cinco pisos · 400 usuarios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92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Benjamín Peña · Francisco Morales · Julián Pacheco · Martín Burgos · Matías Muñoz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257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Docente: Eduardo Correa Marchant  ·  NRC 8485  ·  Septiembre 2026</a:t>
            </a:r>
            <a:endParaRPr lang="en-US" sz="1200" dirty="0"/>
          </a:p>
        </p:txBody>
      </p:sp>
      <p:sp>
        <p:nvSpPr>
          <p:cNvPr id="901" name="Text 902"/>
          <p:cNvSpPr txBox="1"/>
          <p:nvPr/>
        </p:nvSpPr>
        <p:spPr>
          <a:xfrm>
            <a:off x="822960" y="43159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6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y los requerimientos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edificio nuevo, sin ningún diseño de red previo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0020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pisos habilitados para actividades administrativas y profesionales.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usuarios por piso, 400 en total, con conectividad cableada e inalámbrica.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 diseño de infraestructura: todo debe definirse desde cero.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antecedentes solo fijan pisos y usuarios; el resto es decisión de diseño.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37960" y="1572768"/>
            <a:ext cx="5056632" cy="4023360"/>
          </a:xfrm>
          <a:prstGeom prst="roundRect">
            <a:avLst>
              <a:gd name="adj" fmla="val 2045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  <a:effectLst>
            <a:outerShdw blurRad="101600" dist="1905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681228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DETERMINAR POR EL EQUIPO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12280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de red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0" y="2212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¿cuántos y dónde?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2761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 de cableado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27614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¿Cat 5e, 6, 6A o fibra?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3310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Equipamiento de red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3310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¿cuántos switches?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3858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entre pisos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3858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medio y capacidad?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4407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Points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44074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¿cuántos por piso?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4956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4956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cuesta todo esto?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 ·  Infraestructura TI  ·  NRC 8485  ·  Grupo 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03" name="Text 904"/>
          <p:cNvSpPr txBox="1"/>
          <p:nvPr/>
        </p:nvSpPr>
        <p:spPr>
          <a:xfrm>
            <a:off x="566928" y="39319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DERIVADOS DEL CASO</a:t>
            </a:r>
            <a:endParaRPr lang="en-US" sz="1100" dirty="0"/>
          </a:p>
        </p:txBody>
      </p:sp>
      <p:sp>
        <p:nvSpPr>
          <p:cNvPr id="905" name="Text 906"/>
          <p:cNvSpPr txBox="1"/>
          <p:nvPr/>
        </p:nvSpPr>
        <p:spPr>
          <a:xfrm>
            <a:off x="566928" y="43708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i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Conectividad</a:t>
            </a:r>
            <a:endParaRPr lang="en-US" sz="1350" dirty="0"/>
          </a:p>
        </p:txBody>
      </p:sp>
      <p:sp>
        <p:nvSpPr>
          <p:cNvPr id="907" name="Text 908"/>
          <p:cNvSpPr txBox="1"/>
          <p:nvPr/>
        </p:nvSpPr>
        <p:spPr>
          <a:xfrm>
            <a:off x="566928" y="46177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0" dirty="0" b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usuarios por piso, puestos reubicables</a:t>
            </a:r>
            <a:endParaRPr lang="en-US" sz="1200" dirty="0"/>
          </a:p>
        </p:txBody>
      </p:sp>
      <p:sp>
        <p:nvSpPr>
          <p:cNvPr id="909" name="Text 910"/>
          <p:cNvSpPr txBox="1"/>
          <p:nvPr/>
        </p:nvSpPr>
        <p:spPr>
          <a:xfrm>
            <a:off x="3401568" y="43708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i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WiFi</a:t>
            </a:r>
            <a:endParaRPr lang="en-US" sz="1350" dirty="0"/>
          </a:p>
        </p:txBody>
      </p:sp>
      <p:sp>
        <p:nvSpPr>
          <p:cNvPr id="911" name="Text 912"/>
          <p:cNvSpPr txBox="1"/>
          <p:nvPr/>
        </p:nvSpPr>
        <p:spPr>
          <a:xfrm>
            <a:off x="3401568" y="46177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0" dirty="0" b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Continua, con itinerancia entre pisos</a:t>
            </a:r>
            <a:endParaRPr lang="en-US" sz="1200" dirty="0"/>
          </a:p>
        </p:txBody>
      </p:sp>
      <p:sp>
        <p:nvSpPr>
          <p:cNvPr id="913" name="Text 914"/>
          <p:cNvSpPr txBox="1"/>
          <p:nvPr/>
        </p:nvSpPr>
        <p:spPr>
          <a:xfrm>
            <a:off x="566928" y="49743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i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Interconexión</a:t>
            </a:r>
            <a:endParaRPr lang="en-US" sz="1350" dirty="0"/>
          </a:p>
        </p:txBody>
      </p:sp>
      <p:sp>
        <p:nvSpPr>
          <p:cNvPr id="915" name="Text 916"/>
          <p:cNvSpPr txBox="1"/>
          <p:nvPr/>
        </p:nvSpPr>
        <p:spPr>
          <a:xfrm>
            <a:off x="566928" y="522122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0" dirty="0" b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capacidad entre los cinco pisos</a:t>
            </a:r>
            <a:endParaRPr lang="en-US" sz="1200" dirty="0"/>
          </a:p>
        </p:txBody>
      </p:sp>
      <p:sp>
        <p:nvSpPr>
          <p:cNvPr id="917" name="Text 918"/>
          <p:cNvSpPr txBox="1"/>
          <p:nvPr/>
        </p:nvSpPr>
        <p:spPr>
          <a:xfrm>
            <a:off x="3401568" y="49743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i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</a:t>
            </a:r>
            <a:endParaRPr lang="en-US" sz="1350" dirty="0"/>
          </a:p>
        </p:txBody>
      </p:sp>
      <p:sp>
        <p:nvSpPr>
          <p:cNvPr id="919" name="Text 920"/>
          <p:cNvSpPr txBox="1"/>
          <p:nvPr/>
        </p:nvSpPr>
        <p:spPr>
          <a:xfrm>
            <a:off x="3401568" y="522122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0" dirty="0" b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Aislar corporativo, invitados y sistemas</a:t>
            </a:r>
            <a:endParaRPr lang="en-US" sz="1200" dirty="0"/>
          </a:p>
        </p:txBody>
      </p:sp>
      <p:sp>
        <p:nvSpPr>
          <p:cNvPr id="921" name="Text 922"/>
          <p:cNvSpPr txBox="1"/>
          <p:nvPr/>
        </p:nvSpPr>
        <p:spPr>
          <a:xfrm>
            <a:off x="566928" y="5577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i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1350" dirty="0"/>
          </a:p>
        </p:txBody>
      </p:sp>
      <p:sp>
        <p:nvSpPr>
          <p:cNvPr id="923" name="Text 924"/>
          <p:cNvSpPr txBox="1"/>
          <p:nvPr/>
        </p:nvSpPr>
        <p:spPr>
          <a:xfrm>
            <a:off x="566928" y="58247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0" dirty="0" b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Tolerar falla de equipo, enlace o energía</a:t>
            </a:r>
            <a:endParaRPr lang="en-US" sz="1200" dirty="0"/>
          </a:p>
        </p:txBody>
      </p:sp>
      <p:sp>
        <p:nvSpPr>
          <p:cNvPr id="925" name="Text 926"/>
          <p:cNvSpPr txBox="1"/>
          <p:nvPr/>
        </p:nvSpPr>
        <p:spPr>
          <a:xfrm>
            <a:off x="3401568" y="5577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i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Crecimiento</a:t>
            </a:r>
            <a:endParaRPr lang="en-US" sz="1350" dirty="0"/>
          </a:p>
        </p:txBody>
      </p:sp>
      <p:sp>
        <p:nvSpPr>
          <p:cNvPr id="927" name="Text 928"/>
          <p:cNvSpPr txBox="1"/>
          <p:nvPr/>
        </p:nvSpPr>
        <p:spPr>
          <a:xfrm>
            <a:off x="3401568" y="58247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0" dirty="0" b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Escalar sin rehacer el cableado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Dimensionamiento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números que gobiernan todo el diseño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0020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36829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salidas Cat 6A por piso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960 en el edificio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310128" y="160020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3310128" y="236829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puertos activos por piso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switches de 48 puertos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053328" y="160020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6053328" y="236829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Points por piso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en el edificio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796528" y="1600200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45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8796528" y="236829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 de fibra OM4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piso hacia el núcleo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337560"/>
            <a:ext cx="11027664" cy="2331720"/>
          </a:xfrm>
          <a:prstGeom prst="roundRect">
            <a:avLst>
              <a:gd name="adj" fmla="val 3529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blurRad="101600" dist="1905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868680" y="35844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llegamos a las 192 salidas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041648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puestos × 2 salidas (mínimo ANSI/TIA-568)  =  160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+ 6 AP, 4 cámaras IP, 2 control de acceso, 4 impresoras y salas  =  176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+ 16 de reserva cableada  =  192, es decir 4 patch panels de 48 puertos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 ·  Infraestructura TI  ·  NRC 8485  ·  Grupo 6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del cableado y normativas aplicadas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alternativas evaluadas, dos adoptadas  ·  cada norma traducida a una cifra concreta del diseño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27664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Característica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 5e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 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 6A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Fibra OM4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 de banda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MHz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 MHz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MHz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4.700 MHz·km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Velocidad a 100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Gbps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Gbps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Gbps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10–100 Gbps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Distancia del canal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m a 10 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Soporte PoE++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Aceptable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Óptimo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aplica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Costo relativo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Vida útil estimada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5–8 años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8–12 años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15–20 años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 años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16052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  <a:effectLst>
            <a:outerShdw blurRad="101600" dist="1905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86868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Cableado horizontal:  Cat 6A</a:t>
            </a:r>
            <a:endParaRPr lang="en-US" sz="1600" dirty="0"/>
          </a:p>
        </p:txBody>
      </p:sp>
      <p:sp>
        <p:nvSpPr>
          <p:cNvPr id="4" name="Text 4"/>
          <p:cNvSpPr txBox="1"/>
          <p:nvPr/>
        </p:nvSpPr>
        <p:spPr>
          <a:xfrm>
            <a:off x="868680" y="47548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10GBASE-T en los 100 m del canal, mejor disipación bajo PoE++ y el doble de vida útil que Cat 6.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99632" y="416052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7E3D2"/>
          </a:solidFill>
          <a:ln w="12700">
            <a:solidFill>
              <a:srgbClr val="E8C9AE"/>
            </a:solidFill>
            <a:prstDash val="solid"/>
          </a:ln>
          <a:effectLst>
            <a:outerShdw blurRad="101600" dist="1905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6501384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vertical:  fibra OM4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01384" y="47548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m a 10 Gbps, inmunidad electromagnética total y desacople eléctrico entre pisos.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 ·  Infraestructura TI  ·  NRC 8485  ·  Grupo 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929" name="Text 930"/>
          <p:cNvSpPr txBox="1"/>
          <p:nvPr/>
        </p:nvSpPr>
        <p:spPr>
          <a:xfrm>
            <a:off x="566928" y="583387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b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ANSI/TIA-568: 2 salidas por puesto y canal de 100 m   ·   ANSI/TIA-569: TR de 3,0 × 2,6 m   ·   ISO/IEC 11801: Clase Eᴀ en el canal   ·   IEEE 802.11ax: WiFi 6 de alta densidad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la red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 de dos capas con núcleo colapsado redundante</a:t>
            </a:r>
            <a:endParaRPr lang="en-US" sz="1300" dirty="0"/>
          </a:p>
        </p:txBody>
      </p:sp>
      <p:pic>
        <p:nvPicPr>
          <p:cNvPr id="4" name="Image 0" descr="/home/claude/taller1/fig/fig3_topolog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81328"/>
            <a:ext cx="10735056" cy="43159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 ·  Infraestructura TI  ·  NRC 8485  ·  Grupo 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físico del piso tipo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Salidas, canalizaciones y cuarto de telecomunicaciones</a:t>
            </a:r>
            <a:endParaRPr lang="en-US" sz="1300" dirty="0"/>
          </a:p>
        </p:txBody>
      </p:sp>
      <p:pic>
        <p:nvPicPr>
          <p:cNvPr id="4" name="Image 0" descr="/home/claude/taller1/fig/fig1_plano_cable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63040"/>
            <a:ext cx="7406640" cy="43031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536192"/>
            <a:ext cx="3364992" cy="4023360"/>
          </a:xfrm>
          <a:prstGeom prst="roundRect">
            <a:avLst>
              <a:gd name="adj" fmla="val 2446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blurRad="101600" dist="1905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8503920" y="1719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del plano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148840"/>
            <a:ext cx="285292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en el núcleo central: el enlace más largo queda bajo los 90 m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Escalerilla de 300 mm por los pasillos, sobre cielo falso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Derivaciones en ducto EMT hacia cada área de trabajo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Contiguo al shaft vertical: acorta el backbone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 ·  Infraestructura TI  ·  NRC 8485  ·  Grupo 6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la red inalámbrica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Access Points por piso, dimensionados por capacidad</a:t>
            </a:r>
            <a:endParaRPr lang="en-US" sz="1300" dirty="0"/>
          </a:p>
        </p:txBody>
      </p:sp>
      <p:pic>
        <p:nvPicPr>
          <p:cNvPr id="4" name="Image 0" descr="/home/claude/taller1/fig/fig2_plano_wi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81328"/>
            <a:ext cx="5760720" cy="480701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29400" y="1536192"/>
            <a:ext cx="4965192" cy="2148840"/>
          </a:xfrm>
          <a:prstGeom prst="roundRect">
            <a:avLst>
              <a:gd name="adj" fmla="val 3830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  <a:effectLst>
            <a:outerShdw blurRad="101600" dist="1905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6903720" y="16916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capacidad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20574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usuarios × 2,0 dispositivos = 160 clientes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÷ 30 por radio de 5 GHz = 6 AP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903720" y="2926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45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cobertura bastarían 5 AP; rige el criterio más exigente.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29400" y="3840480"/>
            <a:ext cx="4965192" cy="1920240"/>
          </a:xfrm>
          <a:prstGeom prst="roundRect">
            <a:avLst>
              <a:gd name="adj" fmla="val 4286"/>
            </a:avLst>
          </a:prstGeom>
          <a:solidFill>
            <a:srgbClr val="F2F7FD"/>
          </a:solidFill>
          <a:ln w="12700">
            <a:solidFill>
              <a:srgbClr val="DCE8F7"/>
            </a:solidFill>
            <a:prstDash val="solid"/>
          </a:ln>
          <a:effectLst>
            <a:outerShdw blurRad="101600" dist="1905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 txBox="1"/>
          <p:nvPr/>
        </p:nvSpPr>
        <p:spPr>
          <a:xfrm>
            <a:off x="6903720" y="40233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inalámbrica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4407408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WPA3-Enterprise con 802.1X y RADIUS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802.11w obligatorio y detección de AP no autorizados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Invitados en VLAN aislada con portal cautivo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 ·  Infraestructura TI  ·  NRC 8485  ·  Grupo 6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Backbone vertical y cuarto de telecomunicaciones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 jerárquica desde el SER del piso 1  ·  12 hilos OM4 por piso y segmentación por VLAN en cada nivel</a:t>
            </a:r>
            <a:endParaRPr lang="en-US" sz="1300" dirty="0"/>
          </a:p>
        </p:txBody>
      </p:sp>
      <p:pic>
        <p:nvPicPr>
          <p:cNvPr id="4" name="Image 0" descr="/home/claude/taller1/fig/fig4_elev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353312"/>
            <a:ext cx="8229600" cy="49862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 ·  Infraestructura TI  ·  NRC 8485  ·  Grupo 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 de implementación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Precios de referencia del mercado chileno, septiembre de 2026  ·  con comparación económica de las alternativas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$ 207,1 M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24942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total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contingencia e IVA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224528" y="1481328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$ 517.762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4224528" y="224942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usuario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usuarios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882128" y="1481328"/>
            <a:ext cx="37124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45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$ 215.734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882128" y="2249424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salida instalada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960 salidas</a:t>
            </a:r>
            <a:endParaRPr lang="en-US" sz="1150" dirty="0"/>
          </a:p>
        </p:txBody>
      </p:sp>
      <p:pic>
        <p:nvPicPr>
          <p:cNvPr id="10" name="Image 0" descr="/home/claude/taller1/fig/fig5_presupues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2944368"/>
            <a:ext cx="7315200" cy="324490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1  ·  Infraestructura TI  ·  NRC 8485  ·  Grupo 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7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94560"/>
            <a:ext cx="5486400" cy="54864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82296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7325C"/>
          </a:solidFill>
          <a:ln w="12700">
            <a:solidFill>
              <a:srgbClr val="2444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1097280" y="18196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B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81965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Gbps por puesto, con capacidad de 10 Gbps sin recablear, y 20 Gbps agregados por piso hacia el núcleo.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7325C"/>
          </a:solidFill>
          <a:ln w="12700">
            <a:solidFill>
              <a:srgbClr val="2444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097280" y="29169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B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91693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salidas de reserva y 47 % de holgura de puertos por piso, 8 hilos de fibra y 16U libres por rack.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7325C"/>
          </a:solidFill>
          <a:ln w="12700">
            <a:solidFill>
              <a:srgbClr val="2444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1097280" y="401421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B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401421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 por VLAN, 802.1X en cada puerto, WPA3-Enterprise y un perímetro con firewall redundante.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9834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7325C"/>
          </a:solidFill>
          <a:ln w="12700">
            <a:solidFill>
              <a:srgbClr val="2444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1097280" y="51114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B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511149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$ 207.104.695 en total, $ 517.762 por usuario, con cada decisión cara evaluada frente a su alternativa.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14476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normas no quedaron en el marco teórico: cada una determinó una cifra concreta del diseño.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61D5E2B-2A46-41EA-ACB8-946F6C309ADD}">
  <we:reference id="wa200010725" version="1.0.0.1" store="es-ES" storeType="OMEX"/>
  <we:alternateReferences>
    <we:reference id="wa200010725" version="1.0.0.1" store="wa200010725" storeType="OMEX"/>
  </we:alternateReferences>
  <we:properties>
    <we:property name="claude.fileId" value="&quot;7175cca1-d9cf-41e3-812d-f30dfd14282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1992</Words>
  <Application>Microsoft Office PowerPoint</Application>
  <PresentationFormat>Panorámica</PresentationFormat>
  <Paragraphs>307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1 — Infraestructura de red</dc:title>
  <dc:subject>PptxGenJS Presentation</dc:subject>
  <dc:creator>Grupo NRC 8485</dc:creator>
  <cp:lastModifiedBy>Benja Peña</cp:lastModifiedBy>
  <cp:revision>1</cp:revision>
  <dcterms:created xsi:type="dcterms:W3CDTF">2026-09-10T01:20:11Z</dcterms:created>
  <dcterms:modified xsi:type="dcterms:W3CDTF">2026-09-21T02:00:06Z</dcterms:modified>
</cp:coreProperties>
</file>